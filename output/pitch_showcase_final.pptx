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60" r:id="rId2"/>
    <p:sldId id="256" r:id="rId3"/>
    <p:sldId id="262" r:id="rId4"/>
    <p:sldId id="257" r:id="rId5"/>
    <p:sldId id="258" r:id="rId6"/>
    <p:sldId id="259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2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>
        <p:scale>
          <a:sx n="75" d="100"/>
          <a:sy n="75" d="100"/>
        </p:scale>
        <p:origin x="1308" y="528"/>
      </p:cViewPr>
      <p:guideLst>
        <p:guide orient="horz" pos="2228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A5752B-4A84-6177-8C99-CE52393726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CD0DAF-39A2-3125-4F46-B3BB70490C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319903-83F1-AE7F-4165-D4077B3692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动画来自项目原始逐帧资源。扶车采用6帧中的第1、3、6帧。实际骑行摔倒后连按F触发扶车，交警采用高低位6帧循环。来源：src/scenes/Ride.js、src/ui.js、assets/img/character。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B89BB9-4C92-A335-E8EB-FBB5AA11EFA3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974655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动画来自项目原始逐帧资源。扶车采用6帧中的第1、3、6帧。实际骑行摔倒后连按F触发扶车，交警采用高低位6帧循环。来源：src/scenes/Ride.js、src/ui.js、assets/img/character。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922599-0BDA-B6A5-2827-781F9165C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00BE49-42CE-2B90-2DC1-1A254B643E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A2A251-C112-8E36-BC76-FC883ED741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动画来自项目原始逐帧资源。扶车采用6帧中的第1、3、6帧。实际骑行摔倒后连按F触发扶车，交警采用高低位6帧循环。来源：src/scenes/Ride.js、src/ui.js、assets/img/character。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011236-24FD-ED32-D0CA-AAA9693B560B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244044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截图来源：本地实际游戏运行。通过现有Phaser场景入口设定场景与状态，校内/校外道路使用键盘前进后截图。未修改游戏源代码。校内路线较长且有坡，校外较短、有汽车和交警风险。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依据当前版本src/config.js与src/state.js。金钱：money.start=100, allowance=30, passenger.reward=15，次日起发生活费。饱腹度低于30时速度乘0.7。挪车40%指FindCar的dominoChance，停车场碰倒概率为50%。违停被贴条50%。充电60%直接充到100，否则增加30点并封顶100。硬闯被抓概率=min(90%,30%+成功硬闯次数×15个百分点)。首日交警与搭车同学保底出现，次日起才按概率。隐藏结局在流程检查点触发。可讲解例子：为了省钱不吃饭，饱腹度下降使移动变慢，从而增加迟到风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6张均为游戏Ending场景的实际运行截图。通过既有场景入口分别加载结局，不代表同一次游玩的结果。判定来源：src/state.js finalEndingKey/hiddenEndingKey/tryRun，src/config.js ending.totalDays=3, passMaxLate=5。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32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E98195-AA54-E4F5-AA9F-08D711BE4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ABD6D12-1145-DB5A-2786-97FF4EF2C23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600" b="76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80649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C6DAE2B2-9B17-4414-AA8D-D1AA12AEE809}"/>
              </a:ext>
            </a:extLst>
          </p:cNvPr>
          <p:cNvSpPr>
            <a:spLocks noGrp="1"/>
          </p:cNvSpPr>
          <p:nvPr/>
        </p:nvSpPr>
        <p:spPr>
          <a:xfrm>
            <a:off x="552450" y="285750"/>
            <a:ext cx="110871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F9F4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9F4E8"/>
                </a:solidFill>
                <a:latin typeface="Microsoft YaHei"/>
                <a:ea typeface="Microsoft YaHei"/>
                <a:cs typeface="Microsoft YaHei"/>
              </a:rPr>
              <a:t>角色动画：四组动作示例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A44F69A-D35E-4A0C-A0BA-8667390BB4F8}"/>
              </a:ext>
            </a:extLst>
          </p:cNvPr>
          <p:cNvSpPr>
            <a:spLocks noGrp="1"/>
          </p:cNvSpPr>
          <p:nvPr/>
        </p:nvSpPr>
        <p:spPr>
          <a:xfrm>
            <a:off x="571500" y="914400"/>
            <a:ext cx="110490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A7B4C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A7B4C2"/>
                </a:solidFill>
                <a:latin typeface="Microsoft YaHei"/>
                <a:ea typeface="Microsoft YaHei"/>
                <a:cs typeface="Microsoft YaHei"/>
              </a:rPr>
              <a:t>连续帧展示动作变化，关键帧对应玩家操作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2E067B9-84FF-4426-AC64-02ABE210F10A}"/>
              </a:ext>
            </a:extLst>
          </p:cNvPr>
          <p:cNvSpPr>
            <a:spLocks noGrp="1"/>
          </p:cNvSpPr>
          <p:nvPr/>
        </p:nvSpPr>
        <p:spPr>
          <a:xfrm>
            <a:off x="571500" y="6457950"/>
            <a:ext cx="523875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A7B4C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7B4C2"/>
                </a:solidFill>
                <a:latin typeface="Microsoft YaHei"/>
                <a:ea typeface="Microsoft YaHei"/>
                <a:cs typeface="Microsoft YaHei"/>
              </a:rPr>
              <a:t>小电驴的一天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40BFCB-D7C3-441D-8152-B84A9292D43D}"/>
              </a:ext>
            </a:extLst>
          </p:cNvPr>
          <p:cNvSpPr>
            <a:spLocks noGrp="1"/>
          </p:cNvSpPr>
          <p:nvPr/>
        </p:nvSpPr>
        <p:spPr>
          <a:xfrm>
            <a:off x="11001375" y="6457950"/>
            <a:ext cx="85725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A7B4C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7B4C2"/>
                </a:solidFill>
                <a:latin typeface="Microsoft YaHei"/>
                <a:ea typeface="Microsoft YaHei"/>
                <a:cs typeface="Microsoft YaHei"/>
              </a:rPr>
              <a:t>1 / 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0DF5806-26C0-4CF9-B8DC-89681D013EF5}"/>
              </a:ext>
            </a:extLst>
          </p:cNvPr>
          <p:cNvSpPr>
            <a:spLocks noGrp="1"/>
          </p:cNvSpPr>
          <p:nvPr/>
        </p:nvSpPr>
        <p:spPr>
          <a:xfrm>
            <a:off x="571500" y="1457325"/>
            <a:ext cx="22860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行走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CE93F31-2B2C-48AC-BF7D-D4FC4A6E6C0D}"/>
              </a:ext>
            </a:extLst>
          </p:cNvPr>
          <p:cNvSpPr>
            <a:spLocks noGrp="1"/>
          </p:cNvSpPr>
          <p:nvPr/>
        </p:nvSpPr>
        <p:spPr>
          <a:xfrm>
            <a:off x="2952750" y="1524000"/>
            <a:ext cx="2952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A7B4C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A7B4C2"/>
                </a:solidFill>
                <a:latin typeface="Microsoft YaHei"/>
                <a:ea typeface="Microsoft YaHei"/>
                <a:cs typeface="Microsoft YaHei"/>
              </a:rPr>
              <a:t>3 帧循环</a:t>
            </a:r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95828" y="1905000"/>
            <a:ext cx="1151595" cy="1724025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2662703" y="1905000"/>
            <a:ext cx="1151595" cy="1724025"/>
          </a:xfrm>
          <a:prstGeom prst="rect">
            <a:avLst/>
          </a:prstGeom>
        </p:spPr>
      </p:pic>
      <p:pic>
        <p:nvPicPr>
          <p:cNvPr id="33" name="Picture 3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4329578" y="1905000"/>
            <a:ext cx="1151595" cy="1724025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F4D2140-2B6C-4F5E-93F7-D34102CF642D}"/>
              </a:ext>
            </a:extLst>
          </p:cNvPr>
          <p:cNvSpPr>
            <a:spLocks noGrp="1"/>
          </p:cNvSpPr>
          <p:nvPr/>
        </p:nvSpPr>
        <p:spPr>
          <a:xfrm>
            <a:off x="6381750" y="1457325"/>
            <a:ext cx="22860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推车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9B3FCDD-3E1A-470A-9FAB-48CED6ECA0F9}"/>
              </a:ext>
            </a:extLst>
          </p:cNvPr>
          <p:cNvSpPr>
            <a:spLocks noGrp="1"/>
          </p:cNvSpPr>
          <p:nvPr/>
        </p:nvSpPr>
        <p:spPr>
          <a:xfrm>
            <a:off x="8763000" y="1524000"/>
            <a:ext cx="2952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A7B4C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A7B4C2"/>
                </a:solidFill>
                <a:latin typeface="Microsoft YaHei"/>
                <a:ea typeface="Microsoft YaHei"/>
                <a:cs typeface="Microsoft YaHei"/>
              </a:rPr>
              <a:t>3 帧循环</a:t>
            </a:r>
          </a:p>
        </p:txBody>
      </p:sp>
      <p:pic>
        <p:nvPicPr>
          <p:cNvPr id="36" name="Picture 35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6806078" y="1905000"/>
            <a:ext cx="1151595" cy="1724025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8472953" y="1905000"/>
            <a:ext cx="1151595" cy="1724025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10139828" y="1905000"/>
            <a:ext cx="1151595" cy="1724025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95B6E16E-55DE-48B2-A226-331E90DF60A6}"/>
              </a:ext>
            </a:extLst>
          </p:cNvPr>
          <p:cNvSpPr>
            <a:spLocks noGrp="1"/>
          </p:cNvSpPr>
          <p:nvPr/>
        </p:nvSpPr>
        <p:spPr>
          <a:xfrm>
            <a:off x="571500" y="3876675"/>
            <a:ext cx="22860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扶车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5948B8F-F274-4BBB-AA7D-BD9150BF29FE}"/>
              </a:ext>
            </a:extLst>
          </p:cNvPr>
          <p:cNvSpPr>
            <a:spLocks noGrp="1"/>
          </p:cNvSpPr>
          <p:nvPr/>
        </p:nvSpPr>
        <p:spPr>
          <a:xfrm>
            <a:off x="2952750" y="3943350"/>
            <a:ext cx="2952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A7B4C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A7B4C2"/>
                </a:solidFill>
                <a:latin typeface="Microsoft YaHei"/>
                <a:ea typeface="Microsoft YaHei"/>
                <a:cs typeface="Microsoft YaHei"/>
              </a:rPr>
              <a:t>6 帧中的第 1、3、6 帧</a:t>
            </a:r>
          </a:p>
        </p:txBody>
      </p:sp>
      <p:pic>
        <p:nvPicPr>
          <p:cNvPr id="41" name="Picture 40"/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809625" y="4614863"/>
            <a:ext cx="1524000" cy="1143000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>
          <a:blip r:embed="rId10"/>
          <a:stretch/>
        </p:blipFill>
        <p:spPr>
          <a:xfrm>
            <a:off x="2476500" y="4614863"/>
            <a:ext cx="1524000" cy="1143000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>
          <a:blip r:embed="rId11"/>
          <a:stretch/>
        </p:blipFill>
        <p:spPr>
          <a:xfrm>
            <a:off x="4143375" y="4614863"/>
            <a:ext cx="1524000" cy="114300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3B77238A-54CF-43F9-9247-D57D81386313}"/>
              </a:ext>
            </a:extLst>
          </p:cNvPr>
          <p:cNvSpPr>
            <a:spLocks noGrp="1"/>
          </p:cNvSpPr>
          <p:nvPr/>
        </p:nvSpPr>
        <p:spPr>
          <a:xfrm>
            <a:off x="6381750" y="3876675"/>
            <a:ext cx="22860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交警挥棒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7B05435-D5CC-4158-9905-8590626A4771}"/>
              </a:ext>
            </a:extLst>
          </p:cNvPr>
          <p:cNvSpPr>
            <a:spLocks noGrp="1"/>
          </p:cNvSpPr>
          <p:nvPr/>
        </p:nvSpPr>
        <p:spPr>
          <a:xfrm>
            <a:off x="8763000" y="3943350"/>
            <a:ext cx="2952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A7B4C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A7B4C2"/>
                </a:solidFill>
                <a:latin typeface="Microsoft YaHei"/>
                <a:ea typeface="Microsoft YaHei"/>
                <a:cs typeface="Microsoft YaHei"/>
              </a:rPr>
              <a:t>高低位动作关键帧</a:t>
            </a:r>
          </a:p>
        </p:txBody>
      </p:sp>
      <p:pic>
        <p:nvPicPr>
          <p:cNvPr id="46" name="Picture 45"/>
          <p:cNvPicPr>
            <a:picLocks noChangeAspect="1"/>
          </p:cNvPicPr>
          <p:nvPr/>
        </p:nvPicPr>
        <p:blipFill>
          <a:blip r:embed="rId12"/>
          <a:stretch/>
        </p:blipFill>
        <p:spPr>
          <a:xfrm>
            <a:off x="6806078" y="4324350"/>
            <a:ext cx="1151595" cy="1724025"/>
          </a:xfrm>
          <a:prstGeom prst="rect">
            <a:avLst/>
          </a:prstGeom>
        </p:spPr>
      </p:pic>
      <p:pic>
        <p:nvPicPr>
          <p:cNvPr id="47" name="Picture 46"/>
          <p:cNvPicPr>
            <a:picLocks noChangeAspect="1"/>
          </p:cNvPicPr>
          <p:nvPr/>
        </p:nvPicPr>
        <p:blipFill>
          <a:blip r:embed="rId13"/>
          <a:stretch/>
        </p:blipFill>
        <p:spPr>
          <a:xfrm>
            <a:off x="8472953" y="4324350"/>
            <a:ext cx="1151595" cy="1724025"/>
          </a:xfrm>
          <a:prstGeom prst="rect">
            <a:avLst/>
          </a:prstGeom>
        </p:spPr>
      </p:pic>
      <p:pic>
        <p:nvPicPr>
          <p:cNvPr id="48" name="Picture 47"/>
          <p:cNvPicPr>
            <a:picLocks noChangeAspect="1"/>
          </p:cNvPicPr>
          <p:nvPr/>
        </p:nvPicPr>
        <p:blipFill>
          <a:blip r:embed="rId14"/>
          <a:stretch/>
        </p:blipFill>
        <p:spPr>
          <a:xfrm>
            <a:off x="10139828" y="4324350"/>
            <a:ext cx="1151595" cy="1724025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C106BAEC-5A33-4F65-55C1-611EB6B32368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810250" y="-14659025"/>
            <a:ext cx="2874218" cy="13954175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017372A5-AC45-D894-5BCE-F9133B9001F3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684468" y="8277225"/>
            <a:ext cx="2840782" cy="13954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6268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32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97D17A-6AF4-362C-7B91-BE8B69CD48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FF130DDD-3E93-5E2F-D763-9E7146A047FA}"/>
              </a:ext>
            </a:extLst>
          </p:cNvPr>
          <p:cNvSpPr>
            <a:spLocks noGrp="1"/>
          </p:cNvSpPr>
          <p:nvPr/>
        </p:nvSpPr>
        <p:spPr>
          <a:xfrm>
            <a:off x="552450" y="285750"/>
            <a:ext cx="110871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F9F4E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3150" b="1" dirty="0">
                <a:solidFill>
                  <a:srgbClr val="F9F4E8"/>
                </a:solidFill>
                <a:latin typeface="Microsoft YaHei"/>
                <a:ea typeface="Microsoft YaHei"/>
                <a:cs typeface="Microsoft YaHei"/>
              </a:rPr>
              <a:t>丰富的资源库与音效库</a:t>
            </a:r>
            <a:endParaRPr sz="3150" b="1" dirty="0">
              <a:solidFill>
                <a:srgbClr val="F9F4E8"/>
              </a:solidFill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BBD0FA1-1440-9738-6403-6374406C09F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4999" b="2050"/>
          <a:stretch>
            <a:fillRect/>
          </a:stretch>
        </p:blipFill>
        <p:spPr>
          <a:xfrm>
            <a:off x="995247" y="1249900"/>
            <a:ext cx="4153035" cy="5210106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D295FE4D-35C5-F4D3-CBB0-52DBE16B28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0" y="838200"/>
            <a:ext cx="2874218" cy="13954175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32F15A11-16A9-28BA-5A61-DE77C7136B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4468" y="-8116739"/>
            <a:ext cx="2840782" cy="13954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120094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B9FBC6AC-B682-45DB-81F7-31FE0B755FC5}"/>
              </a:ext>
            </a:extLst>
          </p:cNvPr>
          <p:cNvSpPr>
            <a:spLocks noGrp="1"/>
          </p:cNvSpPr>
          <p:nvPr/>
        </p:nvSpPr>
        <p:spPr>
          <a:xfrm>
            <a:off x="552450" y="285750"/>
            <a:ext cx="110871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F9F4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9F4E8"/>
                </a:solidFill>
                <a:latin typeface="Microsoft YaHei"/>
                <a:ea typeface="Microsoft YaHei"/>
                <a:cs typeface="Microsoft YaHei"/>
              </a:rPr>
              <a:t>游戏场景：找车、骑行与充电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85A7825-09BA-4251-B851-FDA50391F959}"/>
              </a:ext>
            </a:extLst>
          </p:cNvPr>
          <p:cNvSpPr>
            <a:spLocks noGrp="1"/>
          </p:cNvSpPr>
          <p:nvPr/>
        </p:nvSpPr>
        <p:spPr>
          <a:xfrm>
            <a:off x="571500" y="914400"/>
            <a:ext cx="110490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A7B4C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A7B4C2"/>
                </a:solidFill>
                <a:latin typeface="Microsoft YaHei"/>
                <a:ea typeface="Microsoft YaHei"/>
                <a:cs typeface="Microsoft YaHei"/>
              </a:rPr>
              <a:t>找车、校内道路、校外道路和充电区的游戏运行画面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E9FE36-3EB5-4D2B-8ACE-D10D8B9115A1}"/>
              </a:ext>
            </a:extLst>
          </p:cNvPr>
          <p:cNvSpPr>
            <a:spLocks noGrp="1"/>
          </p:cNvSpPr>
          <p:nvPr/>
        </p:nvSpPr>
        <p:spPr>
          <a:xfrm>
            <a:off x="1095375" y="1323975"/>
            <a:ext cx="41910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找车场景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95375" y="1657350"/>
            <a:ext cx="3725332" cy="209549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A958E2D-4967-491F-A792-D22FDF347100}"/>
              </a:ext>
            </a:extLst>
          </p:cNvPr>
          <p:cNvSpPr>
            <a:spLocks noGrp="1"/>
          </p:cNvSpPr>
          <p:nvPr/>
        </p:nvSpPr>
        <p:spPr>
          <a:xfrm>
            <a:off x="6905625" y="1323975"/>
            <a:ext cx="41910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校内道路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905625" y="1657350"/>
            <a:ext cx="3725332" cy="2095499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412F99A5-6170-42B1-9BAB-47B07D685B6A}"/>
              </a:ext>
            </a:extLst>
          </p:cNvPr>
          <p:cNvSpPr>
            <a:spLocks noGrp="1"/>
          </p:cNvSpPr>
          <p:nvPr/>
        </p:nvSpPr>
        <p:spPr>
          <a:xfrm>
            <a:off x="1095375" y="3895725"/>
            <a:ext cx="41910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校外道路</a:t>
            </a: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095375" y="4229100"/>
            <a:ext cx="3725332" cy="2095499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B68CA72-81F7-4889-B4FF-360841309DCD}"/>
              </a:ext>
            </a:extLst>
          </p:cNvPr>
          <p:cNvSpPr>
            <a:spLocks noGrp="1"/>
          </p:cNvSpPr>
          <p:nvPr/>
        </p:nvSpPr>
        <p:spPr>
          <a:xfrm>
            <a:off x="6905625" y="3895725"/>
            <a:ext cx="41910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充电场景</a:t>
            </a: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6905625" y="4229100"/>
            <a:ext cx="3725332" cy="2095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83707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35B955C-750E-47BC-BCEF-891F2F88D333}"/>
              </a:ext>
            </a:extLst>
          </p:cNvPr>
          <p:cNvSpPr>
            <a:spLocks noGrp="1"/>
          </p:cNvSpPr>
          <p:nvPr/>
        </p:nvSpPr>
        <p:spPr>
          <a:xfrm>
            <a:off x="552450" y="285750"/>
            <a:ext cx="110871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F9F4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9F4E8"/>
                </a:solidFill>
                <a:latin typeface="Microsoft YaHei"/>
                <a:ea typeface="Microsoft YaHei"/>
                <a:cs typeface="Microsoft YaHei"/>
              </a:rPr>
              <a:t>核心机制：资源管理与概率事件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3F03D6D-F450-48E3-B571-3396EA996155}"/>
              </a:ext>
            </a:extLst>
          </p:cNvPr>
          <p:cNvSpPr>
            <a:spLocks noGrp="1"/>
          </p:cNvSpPr>
          <p:nvPr/>
        </p:nvSpPr>
        <p:spPr>
          <a:xfrm>
            <a:off x="571500" y="914400"/>
            <a:ext cx="110490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A7B4C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A7B4C2"/>
                </a:solidFill>
                <a:latin typeface="Microsoft YaHei"/>
                <a:ea typeface="Microsoft YaHei"/>
                <a:cs typeface="Microsoft YaHei"/>
              </a:rPr>
              <a:t>玩家需要在花钱、吃饭、赶课和骑行风险之间做取舍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63EF660-CD77-4FB3-9C8B-102115FE3A02}"/>
              </a:ext>
            </a:extLst>
          </p:cNvPr>
          <p:cNvSpPr>
            <a:spLocks noGrp="1"/>
          </p:cNvSpPr>
          <p:nvPr/>
        </p:nvSpPr>
        <p:spPr>
          <a:xfrm>
            <a:off x="571500" y="1571625"/>
            <a:ext cx="523875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金钱机制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97358E7-C1AF-45F8-8831-DC569099D198}"/>
              </a:ext>
            </a:extLst>
          </p:cNvPr>
          <p:cNvSpPr>
            <a:spLocks noGrp="1"/>
          </p:cNvSpPr>
          <p:nvPr/>
        </p:nvSpPr>
        <p:spPr>
          <a:xfrm>
            <a:off x="571500" y="2143125"/>
            <a:ext cx="5238750" cy="1333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 sz="1650" b="0">
                <a:solidFill>
                  <a:srgbClr val="F9F4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 dirty="0" err="1">
                <a:solidFill>
                  <a:srgbClr val="F9F4E8"/>
                </a:solidFill>
                <a:latin typeface="Microsoft YaHei"/>
                <a:ea typeface="Microsoft YaHei"/>
                <a:cs typeface="Microsoft YaHei"/>
              </a:rPr>
              <a:t>初始</a:t>
            </a:r>
            <a:r>
              <a:rPr sz="1650" b="0" dirty="0">
                <a:solidFill>
                  <a:srgbClr val="F9F4E8"/>
                </a:solidFill>
                <a:latin typeface="Microsoft YaHei"/>
                <a:ea typeface="Microsoft YaHei"/>
                <a:cs typeface="Microsoft YaHei"/>
              </a:rPr>
              <a:t> ¥100，次日起每天生活费 +¥30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 sz="1650" b="0">
                <a:solidFill>
                  <a:srgbClr val="F9F4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 dirty="0" err="1">
                <a:solidFill>
                  <a:srgbClr val="F9F4E8"/>
                </a:solidFill>
                <a:latin typeface="Microsoft YaHei"/>
                <a:ea typeface="Microsoft YaHei"/>
                <a:cs typeface="Microsoft YaHei"/>
              </a:rPr>
              <a:t>吃饭、充电、罚款消耗金钱</a:t>
            </a:r>
            <a:endParaRPr sz="1650" b="0" dirty="0">
              <a:solidFill>
                <a:srgbClr val="F9F4E8"/>
              </a:solidFill>
              <a:latin typeface="Microsoft YaHei"/>
              <a:ea typeface="Microsoft YaHei"/>
              <a:cs typeface="Microsoft YaHei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 sz="1650" b="0">
                <a:solidFill>
                  <a:srgbClr val="F9F4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 dirty="0" err="1">
                <a:solidFill>
                  <a:srgbClr val="F9F4E8"/>
                </a:solidFill>
                <a:latin typeface="Microsoft YaHei"/>
                <a:ea typeface="Microsoft YaHei"/>
                <a:cs typeface="Microsoft YaHei"/>
              </a:rPr>
              <a:t>载同学送达赚</a:t>
            </a:r>
            <a:r>
              <a:rPr sz="1650" b="0" dirty="0">
                <a:solidFill>
                  <a:srgbClr val="F9F4E8"/>
                </a:solidFill>
                <a:latin typeface="Microsoft YaHei"/>
                <a:ea typeface="Microsoft YaHei"/>
                <a:cs typeface="Microsoft YaHei"/>
              </a:rPr>
              <a:t> ¥15，余额 ≤0 </a:t>
            </a:r>
            <a:r>
              <a:rPr sz="1650" b="0" dirty="0" err="1">
                <a:solidFill>
                  <a:srgbClr val="F9F4E8"/>
                </a:solidFill>
                <a:latin typeface="Microsoft YaHei"/>
                <a:ea typeface="Microsoft YaHei"/>
                <a:cs typeface="Microsoft YaHei"/>
              </a:rPr>
              <a:t>触发结局</a:t>
            </a:r>
            <a:endParaRPr sz="1650" b="0" dirty="0">
              <a:solidFill>
                <a:srgbClr val="F9F4E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71A49A3-141C-4585-8277-E90A68128B92}"/>
              </a:ext>
            </a:extLst>
          </p:cNvPr>
          <p:cNvSpPr>
            <a:spLocks noGrp="1"/>
          </p:cNvSpPr>
          <p:nvPr/>
        </p:nvSpPr>
        <p:spPr>
          <a:xfrm>
            <a:off x="6381750" y="1571625"/>
            <a:ext cx="523875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饥饿度机制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672B5C4-16A1-463F-8C07-3FA8B0CEA37F}"/>
              </a:ext>
            </a:extLst>
          </p:cNvPr>
          <p:cNvSpPr>
            <a:spLocks noGrp="1"/>
          </p:cNvSpPr>
          <p:nvPr/>
        </p:nvSpPr>
        <p:spPr>
          <a:xfrm>
            <a:off x="6381750" y="2143125"/>
            <a:ext cx="5238750" cy="1333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 sz="1650" b="0">
                <a:solidFill>
                  <a:srgbClr val="F9F4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 dirty="0" err="1">
                <a:solidFill>
                  <a:srgbClr val="F9F4E8"/>
                </a:solidFill>
                <a:latin typeface="Microsoft YaHei"/>
                <a:ea typeface="Microsoft YaHei"/>
                <a:cs typeface="Microsoft YaHei"/>
              </a:rPr>
              <a:t>以饱腹度表示，初始</a:t>
            </a:r>
            <a:r>
              <a:rPr sz="1650" b="0" dirty="0">
                <a:solidFill>
                  <a:srgbClr val="F9F4E8"/>
                </a:solidFill>
                <a:latin typeface="Microsoft YaHei"/>
                <a:ea typeface="Microsoft YaHei"/>
                <a:cs typeface="Microsoft YaHei"/>
              </a:rPr>
              <a:t> 80，最高 100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 sz="1650" b="0">
                <a:solidFill>
                  <a:srgbClr val="F9F4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 dirty="0" err="1">
                <a:solidFill>
                  <a:srgbClr val="F9F4E8"/>
                </a:solidFill>
                <a:latin typeface="Microsoft YaHei"/>
                <a:ea typeface="Microsoft YaHei"/>
                <a:cs typeface="Microsoft YaHei"/>
              </a:rPr>
              <a:t>每段课</a:t>
            </a:r>
            <a:r>
              <a:rPr sz="1650" b="0" dirty="0">
                <a:solidFill>
                  <a:srgbClr val="F9F4E8"/>
                </a:solidFill>
                <a:latin typeface="Microsoft YaHei"/>
                <a:ea typeface="Microsoft YaHei"/>
                <a:cs typeface="Microsoft YaHei"/>
              </a:rPr>
              <a:t> −25，过夜 −15，吃饭恢复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 sz="1650" b="0">
                <a:solidFill>
                  <a:srgbClr val="F9F4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 dirty="0" err="1">
                <a:solidFill>
                  <a:srgbClr val="F9F4E8"/>
                </a:solidFill>
                <a:latin typeface="Microsoft YaHei"/>
                <a:ea typeface="Microsoft YaHei"/>
                <a:cs typeface="Microsoft YaHei"/>
              </a:rPr>
              <a:t>低于</a:t>
            </a:r>
            <a:r>
              <a:rPr sz="1650" b="0" dirty="0">
                <a:solidFill>
                  <a:srgbClr val="F9F4E8"/>
                </a:solidFill>
                <a:latin typeface="Microsoft YaHei"/>
                <a:ea typeface="Microsoft YaHei"/>
                <a:cs typeface="Microsoft YaHei"/>
              </a:rPr>
              <a:t> 30 </a:t>
            </a:r>
            <a:r>
              <a:rPr sz="1650" b="0" dirty="0" err="1">
                <a:solidFill>
                  <a:srgbClr val="F9F4E8"/>
                </a:solidFill>
                <a:latin typeface="Microsoft YaHei"/>
                <a:ea typeface="Microsoft YaHei"/>
                <a:cs typeface="Microsoft YaHei"/>
              </a:rPr>
              <a:t>移速降至</a:t>
            </a:r>
            <a:r>
              <a:rPr sz="1650" b="0" dirty="0">
                <a:solidFill>
                  <a:srgbClr val="F9F4E8"/>
                </a:solidFill>
                <a:latin typeface="Microsoft YaHei"/>
                <a:ea typeface="Microsoft YaHei"/>
                <a:cs typeface="Microsoft YaHei"/>
              </a:rPr>
              <a:t> 70%，</a:t>
            </a:r>
            <a:r>
              <a:rPr sz="1650" b="0" dirty="0" err="1">
                <a:solidFill>
                  <a:srgbClr val="F9F4E8"/>
                </a:solidFill>
                <a:latin typeface="Microsoft YaHei"/>
                <a:ea typeface="Microsoft YaHei"/>
                <a:cs typeface="Microsoft YaHei"/>
              </a:rPr>
              <a:t>降至</a:t>
            </a:r>
            <a:r>
              <a:rPr sz="1650" b="0" dirty="0">
                <a:solidFill>
                  <a:srgbClr val="F9F4E8"/>
                </a:solidFill>
                <a:latin typeface="Microsoft YaHei"/>
                <a:ea typeface="Microsoft YaHei"/>
                <a:cs typeface="Microsoft YaHei"/>
              </a:rPr>
              <a:t> 0 </a:t>
            </a:r>
            <a:r>
              <a:rPr sz="1650" b="0" dirty="0" err="1">
                <a:solidFill>
                  <a:srgbClr val="F9F4E8"/>
                </a:solidFill>
                <a:latin typeface="Microsoft YaHei"/>
                <a:ea typeface="Microsoft YaHei"/>
                <a:cs typeface="Microsoft YaHei"/>
              </a:rPr>
              <a:t>会昏倒</a:t>
            </a:r>
            <a:endParaRPr sz="1650" b="0" dirty="0">
              <a:solidFill>
                <a:srgbClr val="F9F4E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277CB33-C703-4F1D-995D-706CE3909DB7}"/>
              </a:ext>
            </a:extLst>
          </p:cNvPr>
          <p:cNvSpPr>
            <a:spLocks noGrp="1"/>
          </p:cNvSpPr>
          <p:nvPr/>
        </p:nvSpPr>
        <p:spPr>
          <a:xfrm>
            <a:off x="571500" y="3895725"/>
            <a:ext cx="523875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电量与时间机制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BB30972-1261-4659-8FF0-FA6FB1D4A2D4}"/>
              </a:ext>
            </a:extLst>
          </p:cNvPr>
          <p:cNvSpPr>
            <a:spLocks noGrp="1"/>
          </p:cNvSpPr>
          <p:nvPr/>
        </p:nvSpPr>
        <p:spPr>
          <a:xfrm>
            <a:off x="571500" y="4467225"/>
            <a:ext cx="5238750" cy="1333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 sz="1650" b="0">
                <a:solidFill>
                  <a:srgbClr val="F9F4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 dirty="0" err="1">
                <a:solidFill>
                  <a:srgbClr val="F9F4E8"/>
                </a:solidFill>
                <a:latin typeface="Microsoft YaHei"/>
                <a:ea typeface="Microsoft YaHei"/>
                <a:cs typeface="Microsoft YaHei"/>
              </a:rPr>
              <a:t>骑行耗电，上坡和载人加重消耗</a:t>
            </a:r>
            <a:endParaRPr sz="1650" b="0" dirty="0">
              <a:solidFill>
                <a:srgbClr val="F9F4E8"/>
              </a:solidFill>
              <a:latin typeface="Microsoft YaHei"/>
              <a:ea typeface="Microsoft YaHei"/>
              <a:cs typeface="Microsoft YaHei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 sz="1650" b="0">
                <a:solidFill>
                  <a:srgbClr val="F9F4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 dirty="0" err="1">
                <a:solidFill>
                  <a:srgbClr val="F9F4E8"/>
                </a:solidFill>
                <a:latin typeface="Microsoft YaHei"/>
                <a:ea typeface="Microsoft YaHei"/>
                <a:cs typeface="Microsoft YaHei"/>
              </a:rPr>
              <a:t>没电需推车，额外花费</a:t>
            </a:r>
            <a:r>
              <a:rPr sz="1650" b="0" dirty="0">
                <a:solidFill>
                  <a:srgbClr val="F9F4E8"/>
                </a:solidFill>
                <a:latin typeface="Microsoft YaHei"/>
                <a:ea typeface="Microsoft YaHei"/>
                <a:cs typeface="Microsoft YaHei"/>
              </a:rPr>
              <a:t> 15 </a:t>
            </a:r>
            <a:r>
              <a:rPr sz="1650" b="0" dirty="0" err="1">
                <a:solidFill>
                  <a:srgbClr val="F9F4E8"/>
                </a:solidFill>
                <a:latin typeface="Microsoft YaHei"/>
                <a:ea typeface="Microsoft YaHei"/>
                <a:cs typeface="Microsoft YaHei"/>
              </a:rPr>
              <a:t>分钟</a:t>
            </a:r>
            <a:endParaRPr sz="1650" b="0" dirty="0">
              <a:solidFill>
                <a:srgbClr val="F9F4E8"/>
              </a:solidFill>
              <a:latin typeface="Microsoft YaHei"/>
              <a:ea typeface="Microsoft YaHei"/>
              <a:cs typeface="Microsoft YaHei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 sz="1650" b="0">
                <a:solidFill>
                  <a:srgbClr val="F9F4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 dirty="0" err="1">
                <a:solidFill>
                  <a:srgbClr val="F9F4E8"/>
                </a:solidFill>
                <a:latin typeface="Microsoft YaHei"/>
                <a:ea typeface="Microsoft YaHei"/>
                <a:cs typeface="Microsoft YaHei"/>
              </a:rPr>
              <a:t>赶课与</a:t>
            </a:r>
            <a:r>
              <a:rPr sz="1650" b="0" dirty="0">
                <a:solidFill>
                  <a:srgbClr val="F9F4E8"/>
                </a:solidFill>
                <a:latin typeface="Microsoft YaHei"/>
                <a:ea typeface="Microsoft YaHei"/>
                <a:cs typeface="Microsoft YaHei"/>
              </a:rPr>
              <a:t> 23:00 </a:t>
            </a:r>
            <a:r>
              <a:rPr sz="1650" b="0" dirty="0" err="1">
                <a:solidFill>
                  <a:srgbClr val="F9F4E8"/>
                </a:solidFill>
                <a:latin typeface="Microsoft YaHei"/>
                <a:ea typeface="Microsoft YaHei"/>
                <a:cs typeface="Microsoft YaHei"/>
              </a:rPr>
              <a:t>门禁形成时间压力</a:t>
            </a:r>
            <a:endParaRPr sz="1650" b="0" dirty="0">
              <a:solidFill>
                <a:srgbClr val="F9F4E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C12A4A1-B252-4C98-9888-A0C111EDAA90}"/>
              </a:ext>
            </a:extLst>
          </p:cNvPr>
          <p:cNvSpPr>
            <a:spLocks noGrp="1"/>
          </p:cNvSpPr>
          <p:nvPr/>
        </p:nvSpPr>
        <p:spPr>
          <a:xfrm>
            <a:off x="6381750" y="3895725"/>
            <a:ext cx="523875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55D6B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55D6BE"/>
                </a:solidFill>
                <a:latin typeface="Microsoft YaHei"/>
                <a:ea typeface="Microsoft YaHei"/>
                <a:cs typeface="Microsoft YaHei"/>
              </a:rPr>
              <a:t>随机／概率事件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A6E9443-E7A2-434D-BE36-A96C130B0836}"/>
              </a:ext>
            </a:extLst>
          </p:cNvPr>
          <p:cNvSpPr>
            <a:spLocks noGrp="1"/>
          </p:cNvSpPr>
          <p:nvPr/>
        </p:nvSpPr>
        <p:spPr>
          <a:xfrm>
            <a:off x="6381750" y="4467225"/>
            <a:ext cx="5238750" cy="1333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 sz="1650" b="0">
                <a:solidFill>
                  <a:srgbClr val="F9F4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 dirty="0" err="1">
                <a:solidFill>
                  <a:srgbClr val="F9F4E8"/>
                </a:solidFill>
                <a:latin typeface="Microsoft YaHei"/>
                <a:ea typeface="Microsoft YaHei"/>
                <a:cs typeface="Microsoft YaHei"/>
              </a:rPr>
              <a:t>挪车连倒</a:t>
            </a:r>
            <a:r>
              <a:rPr sz="1650" b="0" dirty="0">
                <a:solidFill>
                  <a:srgbClr val="F9F4E8"/>
                </a:solidFill>
                <a:latin typeface="Microsoft YaHei"/>
                <a:ea typeface="Microsoft YaHei"/>
                <a:cs typeface="Microsoft YaHei"/>
              </a:rPr>
              <a:t> 40%，</a:t>
            </a:r>
            <a:r>
              <a:rPr sz="1650" b="0" dirty="0" err="1">
                <a:solidFill>
                  <a:srgbClr val="F9F4E8"/>
                </a:solidFill>
                <a:latin typeface="Microsoft YaHei"/>
                <a:ea typeface="Microsoft YaHei"/>
                <a:cs typeface="Microsoft YaHei"/>
              </a:rPr>
              <a:t>违停被罚</a:t>
            </a:r>
            <a:r>
              <a:rPr sz="1650" b="0" dirty="0">
                <a:solidFill>
                  <a:srgbClr val="F9F4E8"/>
                </a:solidFill>
                <a:latin typeface="Microsoft YaHei"/>
                <a:ea typeface="Microsoft YaHei"/>
                <a:cs typeface="Microsoft YaHei"/>
              </a:rPr>
              <a:t> 50%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 sz="1650" b="0">
                <a:solidFill>
                  <a:srgbClr val="F9F4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 dirty="0" err="1">
                <a:solidFill>
                  <a:srgbClr val="F9F4E8"/>
                </a:solidFill>
                <a:latin typeface="Microsoft YaHei"/>
                <a:ea typeface="Microsoft YaHei"/>
                <a:cs typeface="Microsoft YaHei"/>
              </a:rPr>
              <a:t>充电充满</a:t>
            </a:r>
            <a:r>
              <a:rPr sz="1650" b="0" dirty="0">
                <a:solidFill>
                  <a:srgbClr val="F9F4E8"/>
                </a:solidFill>
                <a:latin typeface="Microsoft YaHei"/>
                <a:ea typeface="Microsoft YaHei"/>
                <a:cs typeface="Microsoft YaHei"/>
              </a:rPr>
              <a:t> 60%，</a:t>
            </a:r>
            <a:r>
              <a:rPr sz="1650" b="0" dirty="0" err="1">
                <a:solidFill>
                  <a:srgbClr val="F9F4E8"/>
                </a:solidFill>
                <a:latin typeface="Microsoft YaHei"/>
                <a:ea typeface="Microsoft YaHei"/>
                <a:cs typeface="Microsoft YaHei"/>
              </a:rPr>
              <a:t>否则增加</a:t>
            </a:r>
            <a:r>
              <a:rPr sz="1650" b="0" dirty="0">
                <a:solidFill>
                  <a:srgbClr val="F9F4E8"/>
                </a:solidFill>
                <a:latin typeface="Microsoft YaHei"/>
                <a:ea typeface="Microsoft YaHei"/>
                <a:cs typeface="Microsoft YaHei"/>
              </a:rPr>
              <a:t> 30 </a:t>
            </a:r>
            <a:r>
              <a:rPr sz="1650" b="0" dirty="0" err="1">
                <a:solidFill>
                  <a:srgbClr val="F9F4E8"/>
                </a:solidFill>
                <a:latin typeface="Microsoft YaHei"/>
                <a:ea typeface="Microsoft YaHei"/>
                <a:cs typeface="Microsoft YaHei"/>
              </a:rPr>
              <a:t>点电量</a:t>
            </a:r>
            <a:endParaRPr sz="1650" b="0" dirty="0">
              <a:solidFill>
                <a:srgbClr val="F9F4E8"/>
              </a:solidFill>
              <a:latin typeface="Microsoft YaHei"/>
              <a:ea typeface="Microsoft YaHei"/>
              <a:cs typeface="Microsoft YaHei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 sz="1650" b="0">
                <a:solidFill>
                  <a:srgbClr val="F9F4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 dirty="0" err="1">
                <a:solidFill>
                  <a:srgbClr val="F9F4E8"/>
                </a:solidFill>
                <a:latin typeface="Microsoft YaHei"/>
                <a:ea typeface="Microsoft YaHei"/>
                <a:cs typeface="Microsoft YaHei"/>
              </a:rPr>
              <a:t>硬闯被抓</a:t>
            </a:r>
            <a:r>
              <a:rPr sz="1650" b="0" dirty="0">
                <a:solidFill>
                  <a:srgbClr val="F9F4E8"/>
                </a:solidFill>
                <a:latin typeface="Microsoft YaHei"/>
                <a:ea typeface="Microsoft YaHei"/>
                <a:cs typeface="Microsoft YaHei"/>
              </a:rPr>
              <a:t> 30% </a:t>
            </a:r>
            <a:r>
              <a:rPr sz="1650" b="0" dirty="0" err="1">
                <a:solidFill>
                  <a:srgbClr val="F9F4E8"/>
                </a:solidFill>
                <a:latin typeface="Microsoft YaHei"/>
                <a:ea typeface="Microsoft YaHei"/>
                <a:cs typeface="Microsoft YaHei"/>
              </a:rPr>
              <a:t>起，成功一次</a:t>
            </a:r>
            <a:r>
              <a:rPr sz="1650" b="0" dirty="0">
                <a:solidFill>
                  <a:srgbClr val="F9F4E8"/>
                </a:solidFill>
                <a:latin typeface="Microsoft YaHei"/>
                <a:ea typeface="Microsoft YaHei"/>
                <a:cs typeface="Microsoft YaHei"/>
              </a:rPr>
              <a:t> +15 </a:t>
            </a:r>
            <a:r>
              <a:rPr sz="1650" b="0" dirty="0" err="1">
                <a:solidFill>
                  <a:srgbClr val="F9F4E8"/>
                </a:solidFill>
                <a:latin typeface="Microsoft YaHei"/>
                <a:ea typeface="Microsoft YaHei"/>
                <a:cs typeface="Microsoft YaHei"/>
              </a:rPr>
              <a:t>个百分点</a:t>
            </a:r>
            <a:endParaRPr sz="1650" b="0" dirty="0">
              <a:solidFill>
                <a:srgbClr val="F9F4E8"/>
              </a:solidFill>
              <a:latin typeface="Microsoft YaHei"/>
              <a:ea typeface="Microsoft YaHei"/>
              <a:cs typeface="Microsoft YaHei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 sz="1650" b="0">
                <a:solidFill>
                  <a:srgbClr val="F9F4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 dirty="0" err="1">
                <a:solidFill>
                  <a:srgbClr val="F9F4E8"/>
                </a:solidFill>
                <a:latin typeface="Microsoft YaHei"/>
                <a:ea typeface="Microsoft YaHei"/>
                <a:cs typeface="Microsoft YaHei"/>
              </a:rPr>
              <a:t>被抓概率最高</a:t>
            </a:r>
            <a:r>
              <a:rPr sz="1650" b="0" dirty="0">
                <a:solidFill>
                  <a:srgbClr val="F9F4E8"/>
                </a:solidFill>
                <a:latin typeface="Microsoft YaHei"/>
                <a:ea typeface="Microsoft YaHei"/>
                <a:cs typeface="Microsoft YaHei"/>
              </a:rPr>
              <a:t> 90%</a:t>
            </a:r>
          </a:p>
        </p:txBody>
      </p:sp>
    </p:spTree>
    <p:extLst>
      <p:ext uri="{BB962C8B-B14F-4D97-AF65-F5344CB8AC3E}">
        <p14:creationId xmlns:p14="http://schemas.microsoft.com/office/powerpoint/2010/main" val="14190480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D0471129-269D-4A3F-82DA-A90C33AC1BA1}"/>
              </a:ext>
            </a:extLst>
          </p:cNvPr>
          <p:cNvSpPr>
            <a:spLocks noGrp="1"/>
          </p:cNvSpPr>
          <p:nvPr/>
        </p:nvSpPr>
        <p:spPr>
          <a:xfrm>
            <a:off x="552450" y="285750"/>
            <a:ext cx="110871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F9F4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9F4E8"/>
                </a:solidFill>
                <a:latin typeface="Microsoft YaHei"/>
                <a:ea typeface="Microsoft YaHei"/>
                <a:cs typeface="Microsoft YaHei"/>
              </a:rPr>
              <a:t>多结局：不同选择对应不同结果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17C4E93-D0E0-441C-A0D9-4652DF9D8EE9}"/>
              </a:ext>
            </a:extLst>
          </p:cNvPr>
          <p:cNvSpPr>
            <a:spLocks noGrp="1"/>
          </p:cNvSpPr>
          <p:nvPr/>
        </p:nvSpPr>
        <p:spPr>
          <a:xfrm>
            <a:off x="571500" y="914400"/>
            <a:ext cx="110490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A7B4C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A7B4C2"/>
                </a:solidFill>
                <a:latin typeface="Microsoft YaHei"/>
                <a:ea typeface="Microsoft YaHei"/>
                <a:cs typeface="Microsoft YaHei"/>
              </a:rPr>
              <a:t>正常结局由三天累计迟到次数判定，风险事件可提前结束游戏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6E7E9D-8F27-446C-9E68-5E152AC77C35}"/>
              </a:ext>
            </a:extLst>
          </p:cNvPr>
          <p:cNvSpPr>
            <a:spLocks noGrp="1"/>
          </p:cNvSpPr>
          <p:nvPr/>
        </p:nvSpPr>
        <p:spPr>
          <a:xfrm>
            <a:off x="571500" y="6457950"/>
            <a:ext cx="523875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A7B4C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7B4C2"/>
                </a:solidFill>
                <a:latin typeface="Microsoft YaHei"/>
                <a:ea typeface="Microsoft YaHei"/>
                <a:cs typeface="Microsoft YaHei"/>
              </a:rPr>
              <a:t>小电驴的一天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F498EE9-C3DF-4BD2-A0BF-0247A5C79F6F}"/>
              </a:ext>
            </a:extLst>
          </p:cNvPr>
          <p:cNvSpPr>
            <a:spLocks noGrp="1"/>
          </p:cNvSpPr>
          <p:nvPr/>
        </p:nvSpPr>
        <p:spPr>
          <a:xfrm>
            <a:off x="11001375" y="6457950"/>
            <a:ext cx="85725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A7B4C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7B4C2"/>
                </a:solidFill>
                <a:latin typeface="Microsoft YaHei"/>
                <a:ea typeface="Microsoft YaHei"/>
                <a:cs typeface="Microsoft YaHei"/>
              </a:rPr>
              <a:t>4 / 4</a:t>
            </a: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71500" y="1428750"/>
            <a:ext cx="3571875" cy="200918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428184C-925A-4043-89E4-95CDD0E0070F}"/>
              </a:ext>
            </a:extLst>
          </p:cNvPr>
          <p:cNvSpPr>
            <a:spLocks noGrp="1"/>
          </p:cNvSpPr>
          <p:nvPr/>
        </p:nvSpPr>
        <p:spPr>
          <a:xfrm>
            <a:off x="571500" y="3476625"/>
            <a:ext cx="3667125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dirty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完美：0 </a:t>
            </a:r>
            <a:r>
              <a:rPr sz="1650" b="1" dirty="0" err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次迟到</a:t>
            </a:r>
            <a:endParaRPr sz="1650" b="1" dirty="0">
              <a:solidFill>
                <a:srgbClr val="F59E0B"/>
              </a:solidFill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429125" y="1428750"/>
            <a:ext cx="3571875" cy="200918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2404D46-3819-47D3-841B-9FAD5DE78AA3}"/>
              </a:ext>
            </a:extLst>
          </p:cNvPr>
          <p:cNvSpPr>
            <a:spLocks noGrp="1"/>
          </p:cNvSpPr>
          <p:nvPr/>
        </p:nvSpPr>
        <p:spPr>
          <a:xfrm>
            <a:off x="4429125" y="3476625"/>
            <a:ext cx="3667125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合格：1–5 次迟到</a:t>
            </a:r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8286750" y="1428750"/>
            <a:ext cx="3571875" cy="200918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FC52D7F-F283-4EAA-938B-61E381CFC3AC}"/>
              </a:ext>
            </a:extLst>
          </p:cNvPr>
          <p:cNvSpPr>
            <a:spLocks noGrp="1"/>
          </p:cNvSpPr>
          <p:nvPr/>
        </p:nvSpPr>
        <p:spPr>
          <a:xfrm>
            <a:off x="8286750" y="3476625"/>
            <a:ext cx="3667125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不合格：超过 5 次</a:t>
            </a:r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571500" y="3848100"/>
            <a:ext cx="3571875" cy="200918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87B3B9CA-2C2B-4ABE-B740-651C76D58F8D}"/>
              </a:ext>
            </a:extLst>
          </p:cNvPr>
          <p:cNvSpPr>
            <a:spLocks noGrp="1"/>
          </p:cNvSpPr>
          <p:nvPr/>
        </p:nvSpPr>
        <p:spPr>
          <a:xfrm>
            <a:off x="571500" y="5895975"/>
            <a:ext cx="3667125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55D6B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55D6BE"/>
                </a:solidFill>
                <a:latin typeface="Microsoft YaHei"/>
                <a:ea typeface="Microsoft YaHei"/>
                <a:cs typeface="Microsoft YaHei"/>
              </a:rPr>
              <a:t>派出所：硬闯被抓</a:t>
            </a:r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4429125" y="3848100"/>
            <a:ext cx="3571875" cy="200918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B167695C-9C55-4A6D-9DCB-533E8426F564}"/>
              </a:ext>
            </a:extLst>
          </p:cNvPr>
          <p:cNvSpPr>
            <a:spLocks noGrp="1"/>
          </p:cNvSpPr>
          <p:nvPr/>
        </p:nvSpPr>
        <p:spPr>
          <a:xfrm>
            <a:off x="4429125" y="5895975"/>
            <a:ext cx="3667125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55D6B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55D6BE"/>
                </a:solidFill>
                <a:latin typeface="Microsoft YaHei"/>
                <a:ea typeface="Microsoft YaHei"/>
                <a:cs typeface="Microsoft YaHei"/>
              </a:rPr>
              <a:t>昏倒：饱腹度耗尽</a:t>
            </a:r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8286750" y="3848100"/>
            <a:ext cx="3571875" cy="200918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372AFAC3-3A8F-4C96-9EF4-3F6B7AAA105E}"/>
              </a:ext>
            </a:extLst>
          </p:cNvPr>
          <p:cNvSpPr>
            <a:spLocks noGrp="1"/>
          </p:cNvSpPr>
          <p:nvPr/>
        </p:nvSpPr>
        <p:spPr>
          <a:xfrm>
            <a:off x="8286750" y="5895975"/>
            <a:ext cx="3667125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55D6B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55D6BE"/>
                </a:solidFill>
                <a:latin typeface="Microsoft YaHei"/>
                <a:ea typeface="Microsoft YaHei"/>
                <a:cs typeface="Microsoft YaHei"/>
              </a:rPr>
              <a:t>身无分文：余额耗尽</a:t>
            </a:r>
          </a:p>
        </p:txBody>
      </p:sp>
    </p:spTree>
    <p:extLst>
      <p:ext uri="{BB962C8B-B14F-4D97-AF65-F5344CB8AC3E}">
        <p14:creationId xmlns:p14="http://schemas.microsoft.com/office/powerpoint/2010/main" val="94824456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433</Words>
  <Application>Microsoft Office PowerPoint</Application>
  <DocSecurity>0</DocSecurity>
  <PresentationFormat>Widescreen</PresentationFormat>
  <Paragraphs>54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Microsoft YaHei</vt:lpstr>
      <vt:lpstr>Aptos</vt:lpstr>
      <vt:lpstr>Arial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Zhehan Lin</cp:lastModifiedBy>
  <cp:revision>2</cp:revision>
  <dcterms:created xsi:type="dcterms:W3CDTF">2026-09-27T07:07:41Z</dcterms:created>
  <dcterms:modified xsi:type="dcterms:W3CDTF">2026-09-27T07:25:08Z</dcterms:modified>
</cp:coreProperties>
</file>